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BA2D-3966-B695-AB73-45AF85038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00658-8BA1-8741-17BA-B39EBACD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EE01-A4F0-09D4-C41B-F509AF9F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803E6-CD90-FC15-9F1E-9FFE0931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2632-E7B7-D74D-63E1-B098FA66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0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CDD4-30C1-2FD6-D9FE-A900AFE4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5CB5-0C53-C6DD-6419-E258DB4B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45582-774B-626D-B757-FB290651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BAB15-0B28-F101-D238-276AC12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E7DC-197D-9E0D-DF85-BBE9AAD5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9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5D35-601D-A684-E214-F3A7B0D6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0EE8B-C05A-B2E2-5EB3-C6256B12B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DDA4E-EFEE-55F8-0FA8-726EA3A6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2083E-954C-B30C-1A9C-A9A0FE08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38A84-0BEA-91C8-2D55-FCA0A333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86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2D54-D532-F054-1C36-B8843973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3A57F-C33A-8224-365D-A4DAA1A62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68F3D-4A9F-0DE1-48DF-790D64D55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6E7E3-2418-363F-920C-8C9BA6BC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3B874-12CD-628D-4F0B-1A8C9AFC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96971-F2A5-CB9D-23CB-555D8B05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18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95AB-0758-D92E-FBB9-D32200C0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07EED-B8CE-2320-4661-D2CADE16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67135-BFC1-94EE-AD08-1E40689AB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06EA3-8BB6-EC60-9F36-996A3C915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E9A36-AAB2-F0CB-61E3-FFF419AA8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F786C-B977-9E10-8A03-B5C507F5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4F505-31CE-5D2E-00CB-A5A1C8DB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CFDFD-8A56-03AF-7062-235A0F8B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3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FFDC-FC2F-284D-3406-6BF7EF49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043D8-FE30-2F2E-492A-BF71D3F6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B86D4-812B-5ED3-E180-C561912A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B4B03-3377-47E9-EEB5-4E97B946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73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583A7-5257-F7CC-9A2C-EB5D3943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B7BF8-ABAC-EF11-6579-E9EE009B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4FDCE-CCB1-73DD-E636-03CC6315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3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ECDF4-BA07-E82F-6B7D-77B8925B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EE63F-B10C-06A3-CC37-1EA14882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4A650-F467-6982-3AD5-B047DCA95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F0220-AF88-4304-493E-23AFC745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573A4-1BD2-9009-4AC9-8A35DBF8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E3A7F-DC92-B3F3-6C50-B6646E74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01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4D05-1B63-1AF6-9B3B-CDE56606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B9923-0CE0-0825-1794-CD2C67090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C23CF-034E-B58D-A2C9-975005678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CB500-07E4-B83A-03C1-C604BD17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91625-A2DD-65D2-9E02-8DAE99EA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CA6E0-3A31-6753-1EC8-E7ED8988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9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D9E6-8EAB-7E25-078E-28642D99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82001-6931-B131-1FE5-633957F13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6A4B6-E4E4-6290-6A3C-6E9BC34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B75D-25F8-D038-CA30-0E2D789A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D346-3F9F-84DB-A5FF-5A2E2D5E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F28A9-4AC6-B0D8-1EB6-F8158699C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506B4-3F77-F64D-818A-C95A7E34B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3E8CD-7763-320D-AEEF-68259FFF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8DE02-0E4F-5A8F-385F-D72AFFA0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4731-FBAC-F045-FF7B-9328A23C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80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96514-B120-7E7B-65EF-6ABF89AF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291D1-5695-305E-8558-8EE976E3F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C2B54-2562-44BA-4E7D-CB1447D2F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66B95-0D49-459F-F74C-911D8F9D1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BE4D0-521E-FE41-3F4F-E31C71522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38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zenodo.org/records/322245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8C298-A6DB-1C91-6B4C-22EBC5AB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Evolu</a:t>
            </a:r>
            <a:r>
              <a:rPr lang="ro-RO" dirty="0" err="1">
                <a:solidFill>
                  <a:srgbClr val="FFFFFF"/>
                </a:solidFill>
              </a:rPr>
              <a:t>ția</a:t>
            </a:r>
            <a:r>
              <a:rPr lang="ro-RO" dirty="0">
                <a:solidFill>
                  <a:srgbClr val="FFFFFF"/>
                </a:solidFill>
              </a:rPr>
              <a:t> Gripei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37B55-5A25-503A-4959-069F945B1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750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571D5-DCAB-A1ED-8343-8852A8DD4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Introducere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E637-00F5-328E-7D24-3261F517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algn="just"/>
            <a:r>
              <a:rPr lang="en-GB" sz="2400" dirty="0" err="1"/>
              <a:t>Ideea</a:t>
            </a:r>
            <a:r>
              <a:rPr lang="en-GB" sz="2400" dirty="0"/>
              <a:t> </a:t>
            </a:r>
            <a:r>
              <a:rPr lang="en-GB" sz="2400" dirty="0" err="1"/>
              <a:t>principală</a:t>
            </a:r>
            <a:r>
              <a:rPr lang="en-GB" sz="2400" dirty="0"/>
              <a:t> a </a:t>
            </a:r>
            <a:r>
              <a:rPr lang="en-GB" sz="2400" dirty="0" err="1"/>
              <a:t>acestui</a:t>
            </a:r>
            <a:r>
              <a:rPr lang="en-GB" sz="2400" dirty="0"/>
              <a:t> </a:t>
            </a:r>
            <a:r>
              <a:rPr lang="en-GB" sz="2400" dirty="0" err="1"/>
              <a:t>proiect</a:t>
            </a:r>
            <a:r>
              <a:rPr lang="en-GB" sz="2400" dirty="0"/>
              <a:t> </a:t>
            </a:r>
            <a:r>
              <a:rPr lang="en-GB" sz="2400" dirty="0" err="1"/>
              <a:t>este</a:t>
            </a:r>
            <a:r>
              <a:rPr lang="en-GB" sz="2400" dirty="0"/>
              <a:t> de a </a:t>
            </a:r>
            <a:r>
              <a:rPr lang="en-GB" sz="2400" dirty="0" err="1"/>
              <a:t>dezvolta</a:t>
            </a:r>
            <a:r>
              <a:rPr lang="en-GB" sz="2400" dirty="0"/>
              <a:t> un </a:t>
            </a:r>
            <a:r>
              <a:rPr lang="en-GB" sz="2400" dirty="0" err="1"/>
              <a:t>sistem</a:t>
            </a:r>
            <a:r>
              <a:rPr lang="en-GB" sz="2400" dirty="0"/>
              <a:t> de </a:t>
            </a:r>
            <a:r>
              <a:rPr lang="en-GB" sz="2400" dirty="0" err="1"/>
              <a:t>sprijinire</a:t>
            </a:r>
            <a:r>
              <a:rPr lang="en-GB" sz="2400" dirty="0"/>
              <a:t> a </a:t>
            </a:r>
            <a:r>
              <a:rPr lang="en-GB" sz="2400" dirty="0" err="1"/>
              <a:t>deciziilor</a:t>
            </a:r>
            <a:r>
              <a:rPr lang="en-GB" sz="2400" dirty="0"/>
              <a:t> </a:t>
            </a:r>
            <a:r>
              <a:rPr lang="ro-RO" sz="2400" dirty="0"/>
              <a:t>medicale</a:t>
            </a:r>
            <a:r>
              <a:rPr lang="en-GB" sz="2400" dirty="0"/>
              <a:t> </a:t>
            </a:r>
            <a:r>
              <a:rPr lang="en-GB" sz="2400" dirty="0" err="1"/>
              <a:t>bazat</a:t>
            </a:r>
            <a:r>
              <a:rPr lang="en-GB" sz="2400" dirty="0"/>
              <a:t> pe </a:t>
            </a:r>
            <a:r>
              <a:rPr lang="en-GB" sz="2400" dirty="0" err="1"/>
              <a:t>inteligență</a:t>
            </a:r>
            <a:r>
              <a:rPr lang="en-GB" sz="2400" dirty="0"/>
              <a:t> </a:t>
            </a:r>
            <a:r>
              <a:rPr lang="en-GB" sz="2400" dirty="0" err="1"/>
              <a:t>artificială</a:t>
            </a:r>
            <a:r>
              <a:rPr lang="en-GB" sz="2400" dirty="0"/>
              <a:t> care </a:t>
            </a:r>
            <a:r>
              <a:rPr lang="en-GB" sz="2400" dirty="0" err="1"/>
              <a:t>prezice</a:t>
            </a:r>
            <a:r>
              <a:rPr lang="en-GB" sz="2400" dirty="0"/>
              <a:t> </a:t>
            </a:r>
            <a:r>
              <a:rPr lang="en-GB" sz="2400" dirty="0" err="1"/>
              <a:t>răspunsul</a:t>
            </a:r>
            <a:r>
              <a:rPr lang="en-GB" sz="2400" dirty="0"/>
              <a:t> </a:t>
            </a:r>
            <a:r>
              <a:rPr lang="en-GB" sz="2400" dirty="0" err="1"/>
              <a:t>imun</a:t>
            </a:r>
            <a:r>
              <a:rPr lang="en-GB" sz="2400" dirty="0"/>
              <a:t> al </a:t>
            </a:r>
            <a:r>
              <a:rPr lang="en-GB" sz="2400" dirty="0" err="1"/>
              <a:t>pacientului</a:t>
            </a:r>
            <a:r>
              <a:rPr lang="en-GB" sz="2400" dirty="0"/>
              <a:t> la </a:t>
            </a:r>
            <a:r>
              <a:rPr lang="en-GB" sz="2400" dirty="0" err="1"/>
              <a:t>vaccinul</a:t>
            </a:r>
            <a:r>
              <a:rPr lang="en-GB" sz="2400" dirty="0"/>
              <a:t> </a:t>
            </a:r>
            <a:r>
              <a:rPr lang="en-GB" sz="2400" dirty="0" err="1"/>
              <a:t>antigripal</a:t>
            </a:r>
            <a:r>
              <a:rPr lang="en-GB" sz="2400" dirty="0"/>
              <a:t>.</a:t>
            </a:r>
            <a:endParaRPr lang="ro-RO" sz="2400" dirty="0"/>
          </a:p>
          <a:p>
            <a:pPr algn="just"/>
            <a:r>
              <a:rPr lang="en-GB" sz="2400" dirty="0"/>
              <a:t>Prin </a:t>
            </a:r>
            <a:r>
              <a:rPr lang="en-GB" sz="2400" dirty="0" err="1"/>
              <a:t>analizarea</a:t>
            </a:r>
            <a:r>
              <a:rPr lang="en-GB" sz="2400" dirty="0"/>
              <a:t> </a:t>
            </a:r>
            <a:r>
              <a:rPr lang="en-GB" sz="2400" dirty="0" err="1"/>
              <a:t>diferitelor</a:t>
            </a:r>
            <a:r>
              <a:rPr lang="en-GB" sz="2400" dirty="0"/>
              <a:t> date </a:t>
            </a:r>
            <a:r>
              <a:rPr lang="ro-RO" sz="2400" dirty="0"/>
              <a:t>medicale</a:t>
            </a:r>
            <a:r>
              <a:rPr lang="en-GB" sz="2400" dirty="0"/>
              <a:t>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en-GB" sz="2400" dirty="0" err="1"/>
              <a:t>demografice</a:t>
            </a:r>
            <a:r>
              <a:rPr lang="en-GB" sz="2400" dirty="0"/>
              <a:t>, </a:t>
            </a:r>
            <a:r>
              <a:rPr lang="en-GB" sz="2400" dirty="0" err="1"/>
              <a:t>sistemul</a:t>
            </a:r>
            <a:r>
              <a:rPr lang="en-GB" sz="2400" dirty="0"/>
              <a:t> </a:t>
            </a:r>
            <a:r>
              <a:rPr lang="en-GB" sz="2400" dirty="0" err="1"/>
              <a:t>va</a:t>
            </a:r>
            <a:r>
              <a:rPr lang="en-GB" sz="2400" dirty="0"/>
              <a:t> </a:t>
            </a:r>
            <a:r>
              <a:rPr lang="en-GB" sz="2400" dirty="0" err="1"/>
              <a:t>identifica</a:t>
            </a:r>
            <a:r>
              <a:rPr lang="en-GB" sz="2400" dirty="0"/>
              <a:t> </a:t>
            </a:r>
            <a:r>
              <a:rPr lang="en-GB" sz="2400" dirty="0" err="1"/>
              <a:t>predictori</a:t>
            </a:r>
            <a:r>
              <a:rPr lang="en-GB" sz="2400" dirty="0"/>
              <a:t> </a:t>
            </a:r>
            <a:r>
              <a:rPr lang="en-GB" sz="2400" dirty="0" err="1"/>
              <a:t>imunitari</a:t>
            </a:r>
            <a:r>
              <a:rPr lang="en-GB" sz="2400" dirty="0"/>
              <a:t> care </a:t>
            </a:r>
            <a:r>
              <a:rPr lang="ro-RO" sz="2400" dirty="0"/>
              <a:t>identifică</a:t>
            </a:r>
            <a:r>
              <a:rPr lang="en-GB" sz="2400" dirty="0"/>
              <a:t> </a:t>
            </a:r>
            <a:r>
              <a:rPr lang="en-GB" sz="2400" dirty="0" err="1"/>
              <a:t>persoanele</a:t>
            </a:r>
            <a:r>
              <a:rPr lang="en-GB" sz="2400" dirty="0"/>
              <a:t> care au un </a:t>
            </a:r>
            <a:r>
              <a:rPr lang="en-GB" sz="2400" dirty="0" err="1"/>
              <a:t>răspuns</a:t>
            </a:r>
            <a:r>
              <a:rPr lang="en-GB" sz="2400" dirty="0"/>
              <a:t> </a:t>
            </a:r>
            <a:r>
              <a:rPr lang="en-GB" sz="2400" dirty="0" err="1"/>
              <a:t>puternic</a:t>
            </a:r>
            <a:r>
              <a:rPr lang="en-GB" sz="2400" dirty="0"/>
              <a:t> </a:t>
            </a:r>
            <a:r>
              <a:rPr lang="en-GB" sz="2400" dirty="0" err="1"/>
              <a:t>sau</a:t>
            </a:r>
            <a:r>
              <a:rPr lang="en-GB" sz="2400" dirty="0"/>
              <a:t> slab la </a:t>
            </a:r>
            <a:r>
              <a:rPr lang="en-GB" sz="2400" dirty="0" err="1"/>
              <a:t>vaccinul</a:t>
            </a:r>
            <a:r>
              <a:rPr lang="en-GB" sz="2400" dirty="0"/>
              <a:t> </a:t>
            </a:r>
            <a:r>
              <a:rPr lang="en-GB" sz="2400" dirty="0" err="1"/>
              <a:t>antigripal</a:t>
            </a:r>
            <a:r>
              <a:rPr lang="en-GB" sz="2400" dirty="0"/>
              <a:t>.</a:t>
            </a:r>
            <a:endParaRPr lang="ro-RO" sz="2400" dirty="0"/>
          </a:p>
          <a:p>
            <a:pPr algn="just"/>
            <a:r>
              <a:rPr lang="en-GB" sz="2400" dirty="0" err="1"/>
              <a:t>Acest</a:t>
            </a:r>
            <a:r>
              <a:rPr lang="en-GB" sz="2400" dirty="0"/>
              <a:t> </a:t>
            </a:r>
            <a:r>
              <a:rPr lang="en-GB" sz="2400" dirty="0" err="1"/>
              <a:t>sistem</a:t>
            </a:r>
            <a:r>
              <a:rPr lang="en-GB" sz="2400" dirty="0"/>
              <a:t> </a:t>
            </a:r>
            <a:r>
              <a:rPr lang="en-GB" sz="2400" dirty="0" err="1"/>
              <a:t>va</a:t>
            </a:r>
            <a:r>
              <a:rPr lang="en-GB" sz="2400" dirty="0"/>
              <a:t> </a:t>
            </a:r>
            <a:r>
              <a:rPr lang="en-GB" sz="2400" dirty="0" err="1"/>
              <a:t>ajuta</a:t>
            </a:r>
            <a:r>
              <a:rPr lang="en-GB" sz="2400" dirty="0"/>
              <a:t> </a:t>
            </a:r>
            <a:r>
              <a:rPr lang="en-GB" sz="2400" dirty="0" err="1"/>
              <a:t>profesioniștii</a:t>
            </a:r>
            <a:r>
              <a:rPr lang="en-GB" sz="2400" dirty="0"/>
              <a:t> din </a:t>
            </a:r>
            <a:r>
              <a:rPr lang="en-GB" sz="2400" dirty="0" err="1"/>
              <a:t>domeniul</a:t>
            </a:r>
            <a:r>
              <a:rPr lang="en-GB" sz="2400" dirty="0"/>
              <a:t> </a:t>
            </a:r>
            <a:r>
              <a:rPr lang="en-GB" sz="2400" dirty="0" err="1"/>
              <a:t>sănătății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evalueze</a:t>
            </a:r>
            <a:r>
              <a:rPr lang="en-GB" sz="2400" dirty="0"/>
              <a:t> </a:t>
            </a:r>
            <a:r>
              <a:rPr lang="en-GB" sz="2400" dirty="0" err="1"/>
              <a:t>probabilitatea</a:t>
            </a:r>
            <a:r>
              <a:rPr lang="en-GB" sz="2400" dirty="0"/>
              <a:t> </a:t>
            </a:r>
            <a:r>
              <a:rPr lang="en-GB" sz="2400" dirty="0" err="1"/>
              <a:t>complicațiilor</a:t>
            </a:r>
            <a:r>
              <a:rPr lang="en-GB" sz="2400" dirty="0"/>
              <a:t> post-</a:t>
            </a:r>
            <a:r>
              <a:rPr lang="en-GB" sz="2400" dirty="0" err="1"/>
              <a:t>vaccinare</a:t>
            </a:r>
            <a:r>
              <a:rPr lang="en-GB" sz="2400" dirty="0"/>
              <a:t>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ofere</a:t>
            </a:r>
            <a:r>
              <a:rPr lang="en-GB" sz="2400" dirty="0"/>
              <a:t> </a:t>
            </a:r>
            <a:r>
              <a:rPr lang="en-GB" sz="2400" dirty="0" err="1"/>
              <a:t>recomandări</a:t>
            </a:r>
            <a:r>
              <a:rPr lang="en-GB" sz="2400" dirty="0"/>
              <a:t> </a:t>
            </a:r>
            <a:r>
              <a:rPr lang="en-GB" sz="2400" dirty="0" err="1"/>
              <a:t>personalizate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en-GB" sz="2400" dirty="0" err="1"/>
              <a:t>strategiile</a:t>
            </a:r>
            <a:r>
              <a:rPr lang="en-GB" sz="2400" dirty="0"/>
              <a:t> de </a:t>
            </a:r>
            <a:r>
              <a:rPr lang="en-GB" sz="2400" dirty="0" err="1"/>
              <a:t>vaccinare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6798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53313-B076-4161-BB8A-6713F255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8A3D6-3883-EABC-8974-3028B87A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dirty="0"/>
              <a:t>Set de date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B22F-FA17-FC0F-5919-9F01988F0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05894"/>
            <a:ext cx="5915716" cy="3649466"/>
          </a:xfrm>
        </p:spPr>
        <p:txBody>
          <a:bodyPr anchor="t">
            <a:noAutofit/>
          </a:bodyPr>
          <a:lstStyle/>
          <a:p>
            <a:pPr algn="just"/>
            <a:r>
              <a:rPr lang="ro-RO" sz="2400" dirty="0"/>
              <a:t>Setul de date </a:t>
            </a:r>
            <a:r>
              <a:rPr lang="en-GB" sz="2400" dirty="0" err="1"/>
              <a:t>FluPRINT</a:t>
            </a:r>
            <a:r>
              <a:rPr lang="en-GB" sz="2400" dirty="0"/>
              <a:t> </a:t>
            </a:r>
            <a:r>
              <a:rPr lang="en-GB" sz="2400" dirty="0" err="1"/>
              <a:t>reprezintă</a:t>
            </a:r>
            <a:r>
              <a:rPr lang="en-GB" sz="2400" dirty="0"/>
              <a:t> </a:t>
            </a:r>
            <a:r>
              <a:rPr lang="en-GB" sz="2400" dirty="0" err="1"/>
              <a:t>măsurători</a:t>
            </a:r>
            <a:r>
              <a:rPr lang="en-GB" sz="2400" dirty="0"/>
              <a:t> </a:t>
            </a:r>
            <a:r>
              <a:rPr lang="en-GB" sz="2400" dirty="0" err="1"/>
              <a:t>imunologice</a:t>
            </a:r>
            <a:r>
              <a:rPr lang="en-GB" sz="2400" dirty="0"/>
              <a:t> </a:t>
            </a:r>
            <a:r>
              <a:rPr lang="en-GB" sz="2400" dirty="0" err="1"/>
              <a:t>complet</a:t>
            </a:r>
            <a:r>
              <a:rPr lang="en-GB" sz="2400" dirty="0"/>
              <a:t> integrate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ro-RO" sz="2400" dirty="0"/>
              <a:t>normalizate</a:t>
            </a:r>
            <a:r>
              <a:rPr lang="en-GB" sz="2400" dirty="0"/>
              <a:t> din opt </a:t>
            </a:r>
            <a:r>
              <a:rPr lang="en-GB" sz="2400" dirty="0" err="1"/>
              <a:t>studii</a:t>
            </a:r>
            <a:r>
              <a:rPr lang="en-GB" sz="2400" dirty="0"/>
              <a:t> </a:t>
            </a:r>
            <a:r>
              <a:rPr lang="en-GB" sz="2400" dirty="0" err="1"/>
              <a:t>clinice</a:t>
            </a:r>
            <a:r>
              <a:rPr lang="en-GB" sz="2400" dirty="0"/>
              <a:t> </a:t>
            </a:r>
            <a:r>
              <a:rPr lang="en-GB" sz="2400" dirty="0" err="1"/>
              <a:t>luate</a:t>
            </a:r>
            <a:r>
              <a:rPr lang="en-GB" sz="2400" dirty="0"/>
              <a:t> de la 740 de </a:t>
            </a:r>
            <a:r>
              <a:rPr lang="en-GB" sz="2400" dirty="0" err="1"/>
              <a:t>persoane</a:t>
            </a:r>
            <a:r>
              <a:rPr lang="en-GB" sz="2400" dirty="0"/>
              <a:t> </a:t>
            </a:r>
            <a:r>
              <a:rPr lang="en-GB" sz="2400" dirty="0" err="1"/>
              <a:t>supuse</a:t>
            </a:r>
            <a:r>
              <a:rPr lang="en-GB" sz="2400" dirty="0"/>
              <a:t> </a:t>
            </a:r>
            <a:r>
              <a:rPr lang="en-GB" sz="2400" dirty="0" err="1"/>
              <a:t>vaccinării</a:t>
            </a:r>
            <a:r>
              <a:rPr lang="en-GB" sz="2400" dirty="0"/>
              <a:t> </a:t>
            </a:r>
            <a:r>
              <a:rPr lang="ro-RO" sz="2400" dirty="0"/>
              <a:t>antigripală</a:t>
            </a:r>
            <a:r>
              <a:rPr lang="en-GB" sz="2400" dirty="0"/>
              <a:t> cu </a:t>
            </a:r>
            <a:r>
              <a:rPr lang="en-GB" sz="2400" dirty="0" err="1"/>
              <a:t>vaccinuri</a:t>
            </a:r>
            <a:r>
              <a:rPr lang="en-GB" sz="2400" dirty="0"/>
              <a:t> </a:t>
            </a:r>
            <a:r>
              <a:rPr lang="en-GB" sz="2400" dirty="0" err="1"/>
              <a:t>gripale</a:t>
            </a:r>
            <a:r>
              <a:rPr lang="en-GB" sz="2400" dirty="0"/>
              <a:t> </a:t>
            </a:r>
            <a:r>
              <a:rPr lang="en-GB" sz="2400" dirty="0" err="1"/>
              <a:t>sezoniere</a:t>
            </a:r>
            <a:r>
              <a:rPr lang="en-GB" sz="2400" dirty="0"/>
              <a:t> inactivate </a:t>
            </a:r>
            <a:r>
              <a:rPr lang="en-GB" sz="2400" dirty="0" err="1"/>
              <a:t>sau</a:t>
            </a:r>
            <a:r>
              <a:rPr lang="en-GB" sz="2400" dirty="0"/>
              <a:t> vii </a:t>
            </a:r>
            <a:r>
              <a:rPr lang="en-GB" sz="2400" dirty="0" err="1"/>
              <a:t>atenuate</a:t>
            </a:r>
            <a:r>
              <a:rPr lang="en-GB" sz="2400" dirty="0"/>
              <a:t> din 2007 </a:t>
            </a:r>
            <a:r>
              <a:rPr lang="en-GB" sz="2400" dirty="0" err="1"/>
              <a:t>până</a:t>
            </a:r>
            <a:r>
              <a:rPr lang="en-GB" sz="2400" dirty="0"/>
              <a:t> </a:t>
            </a:r>
            <a:r>
              <a:rPr lang="en-GB" sz="2400" dirty="0" err="1"/>
              <a:t>în</a:t>
            </a:r>
            <a:r>
              <a:rPr lang="en-GB" sz="2400" dirty="0"/>
              <a:t> 2015 la </a:t>
            </a:r>
            <a:r>
              <a:rPr lang="en-GB" sz="2400" dirty="0" err="1"/>
              <a:t>Centrul</a:t>
            </a:r>
            <a:r>
              <a:rPr lang="en-GB" sz="2400" dirty="0"/>
              <a:t> de </a:t>
            </a:r>
            <a:r>
              <a:rPr lang="en-GB" sz="2400" dirty="0" err="1"/>
              <a:t>monitorizare</a:t>
            </a:r>
            <a:r>
              <a:rPr lang="en-GB" sz="2400" dirty="0"/>
              <a:t> a </a:t>
            </a:r>
            <a:r>
              <a:rPr lang="en-GB" sz="2400" dirty="0" err="1"/>
              <a:t>imunității</a:t>
            </a:r>
            <a:r>
              <a:rPr lang="en-GB" sz="2400" dirty="0"/>
              <a:t> </a:t>
            </a:r>
            <a:r>
              <a:rPr lang="en-GB" sz="2400" dirty="0" err="1"/>
              <a:t>umane</a:t>
            </a:r>
            <a:r>
              <a:rPr lang="en-GB" sz="2400" dirty="0"/>
              <a:t> Stanford.</a:t>
            </a:r>
            <a:endParaRPr lang="ro-RO" sz="2400" dirty="0"/>
          </a:p>
          <a:p>
            <a:pPr marL="0" indent="0" algn="just">
              <a:buNone/>
            </a:pPr>
            <a:r>
              <a:rPr lang="ro-RO" sz="2400" dirty="0"/>
              <a:t> (</a:t>
            </a:r>
            <a:r>
              <a:rPr lang="en-US" sz="2400" u="sng" dirty="0">
                <a:effectLst/>
                <a:ea typeface="Times New Roman" panose="02020603050405020304" pitchFamily="18" charset="0"/>
                <a:hlinkClick r:id="rId2"/>
              </a:rPr>
              <a:t>https://zenodo.org/records/3222451</a:t>
            </a:r>
            <a:r>
              <a:rPr lang="ro-RO" sz="2400" u="sng" dirty="0">
                <a:effectLst/>
                <a:ea typeface="Times New Roman" panose="02020603050405020304" pitchFamily="18" charset="0"/>
              </a:rPr>
              <a:t>)</a:t>
            </a:r>
            <a:endParaRPr lang="ro-RO" sz="2400" dirty="0"/>
          </a:p>
          <a:p>
            <a:pPr algn="just"/>
            <a:endParaRPr lang="en-GB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white cylinder with three layers&#10;&#10;Description automatically generated">
            <a:extLst>
              <a:ext uri="{FF2B5EF4-FFF2-40B4-BE49-F238E27FC236}">
                <a16:creationId xmlns:a16="http://schemas.microsoft.com/office/drawing/2014/main" id="{2E5D79C9-EB88-D628-BA37-04B95424A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134403"/>
            <a:ext cx="4170530" cy="46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88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F57F4-026B-398E-CB70-96C644C8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42CEF-9363-DDD5-C34C-E37DC58B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o-RO" sz="4000">
                <a:solidFill>
                  <a:srgbClr val="FFFFFF"/>
                </a:solidFill>
              </a:rPr>
              <a:t>Preprocesare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5255-CBB0-8FA3-B576-C37F9913C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5"/>
            <a:ext cx="10119361" cy="4940717"/>
          </a:xfrm>
        </p:spPr>
        <p:txBody>
          <a:bodyPr anchor="ctr">
            <a:noAutofit/>
          </a:bodyPr>
          <a:lstStyle/>
          <a:p>
            <a:pPr algn="just"/>
            <a:r>
              <a:rPr lang="ro-RO" sz="2400" dirty="0"/>
              <a:t>Pentru a putea antrena un model eficient am avut nevoie de preprocesarea datelor, folosind tehnici precum selectarea parametrilor, Simple </a:t>
            </a:r>
            <a:r>
              <a:rPr lang="ro-RO" sz="2400" dirty="0" err="1"/>
              <a:t>Imputer</a:t>
            </a:r>
            <a:r>
              <a:rPr lang="ro-RO" sz="2400" dirty="0"/>
              <a:t>, Standard </a:t>
            </a:r>
            <a:r>
              <a:rPr lang="ro-RO" sz="2400" dirty="0" err="1"/>
              <a:t>Scaler</a:t>
            </a:r>
            <a:r>
              <a:rPr lang="ro-RO" sz="2400" dirty="0"/>
              <a:t>, </a:t>
            </a:r>
            <a:r>
              <a:rPr lang="ro-RO" sz="2400" dirty="0" err="1"/>
              <a:t>OneHot</a:t>
            </a:r>
            <a:r>
              <a:rPr lang="ro-RO" sz="2400" dirty="0"/>
              <a:t> </a:t>
            </a:r>
            <a:r>
              <a:rPr lang="ro-RO" sz="2400" dirty="0" err="1"/>
              <a:t>Encoder</a:t>
            </a:r>
            <a:r>
              <a:rPr lang="ro-RO" sz="2400" dirty="0"/>
              <a:t>, etc.</a:t>
            </a:r>
          </a:p>
          <a:p>
            <a:pPr algn="just"/>
            <a:r>
              <a:rPr lang="ro-RO" sz="2400" dirty="0"/>
              <a:t>Am </a:t>
            </a:r>
            <a:r>
              <a:rPr lang="en-GB" sz="2400" dirty="0" err="1"/>
              <a:t>selectat</a:t>
            </a:r>
            <a:r>
              <a:rPr lang="en-GB" sz="2400" dirty="0"/>
              <a:t> </a:t>
            </a:r>
            <a:r>
              <a:rPr lang="ro-RO" sz="2400" dirty="0"/>
              <a:t>toate</a:t>
            </a:r>
            <a:r>
              <a:rPr lang="en-GB" sz="2400" dirty="0"/>
              <a:t> </a:t>
            </a:r>
            <a:r>
              <a:rPr lang="en-GB" sz="2400" dirty="0" err="1"/>
              <a:t>analizele</a:t>
            </a:r>
            <a:r>
              <a:rPr lang="en-GB" sz="2400" dirty="0"/>
              <a:t> </a:t>
            </a:r>
            <a:r>
              <a:rPr lang="en-GB" sz="2400" dirty="0" err="1"/>
              <a:t>unui</a:t>
            </a:r>
            <a:r>
              <a:rPr lang="en-GB" sz="2400" dirty="0"/>
              <a:t> </a:t>
            </a:r>
            <a:r>
              <a:rPr lang="en-GB" sz="2400" dirty="0" err="1"/>
              <a:t>pacient</a:t>
            </a:r>
            <a:r>
              <a:rPr lang="en-GB" sz="2400" dirty="0"/>
              <a:t> </a:t>
            </a:r>
            <a:r>
              <a:rPr lang="ro-RO" sz="2400" dirty="0"/>
              <a:t>și au fost mutate</a:t>
            </a:r>
            <a:r>
              <a:rPr lang="en-GB" sz="2400" dirty="0"/>
              <a:t> pe o </a:t>
            </a:r>
            <a:r>
              <a:rPr lang="en-GB" sz="2400" dirty="0" err="1"/>
              <a:t>singur</a:t>
            </a:r>
            <a:r>
              <a:rPr lang="ro-RO" sz="2400" dirty="0"/>
              <a:t>ă</a:t>
            </a:r>
            <a:r>
              <a:rPr lang="en-GB" sz="2400" dirty="0"/>
              <a:t> </a:t>
            </a:r>
            <a:r>
              <a:rPr lang="en-GB" sz="2400" dirty="0" err="1"/>
              <a:t>linie</a:t>
            </a:r>
            <a:r>
              <a:rPr lang="en-GB" sz="2400" dirty="0"/>
              <a:t> </a:t>
            </a:r>
            <a:r>
              <a:rPr lang="ro-RO" sz="2400" dirty="0"/>
              <a:t>apoi</a:t>
            </a:r>
            <a:r>
              <a:rPr lang="en-GB" sz="2400" dirty="0"/>
              <a:t> am </a:t>
            </a:r>
            <a:r>
              <a:rPr lang="en-GB" sz="2400" dirty="0" err="1"/>
              <a:t>selectat</a:t>
            </a:r>
            <a:r>
              <a:rPr lang="en-GB" sz="2400" dirty="0"/>
              <a:t> </a:t>
            </a:r>
            <a:r>
              <a:rPr lang="en-GB" sz="2400" dirty="0" err="1"/>
              <a:t>doar</a:t>
            </a:r>
            <a:r>
              <a:rPr lang="en-GB" sz="2400" dirty="0"/>
              <a:t> </a:t>
            </a:r>
            <a:r>
              <a:rPr lang="en-GB" sz="2400" dirty="0" err="1"/>
              <a:t>parametrii</a:t>
            </a:r>
            <a:r>
              <a:rPr lang="en-GB" sz="2400" dirty="0"/>
              <a:t> care au maxim 75% </a:t>
            </a:r>
            <a:r>
              <a:rPr lang="en-GB" sz="2400" dirty="0" err="1"/>
              <a:t>valori</a:t>
            </a:r>
            <a:r>
              <a:rPr lang="en-GB" sz="2400" dirty="0"/>
              <a:t> </a:t>
            </a:r>
            <a:r>
              <a:rPr lang="en-GB" sz="2400" dirty="0" err="1"/>
              <a:t>nule</a:t>
            </a:r>
            <a:r>
              <a:rPr lang="en-GB" sz="2400" dirty="0"/>
              <a:t> din </a:t>
            </a:r>
            <a:r>
              <a:rPr lang="en-GB" sz="2400" dirty="0" err="1"/>
              <a:t>numarul</a:t>
            </a:r>
            <a:r>
              <a:rPr lang="en-GB" sz="2400" dirty="0"/>
              <a:t> total. </a:t>
            </a:r>
            <a:r>
              <a:rPr lang="en-GB" sz="2400" dirty="0" err="1"/>
              <a:t>Astfel</a:t>
            </a:r>
            <a:r>
              <a:rPr lang="en-GB" sz="2400" dirty="0"/>
              <a:t>, am </a:t>
            </a:r>
            <a:r>
              <a:rPr lang="en-GB" sz="2400" dirty="0" err="1"/>
              <a:t>ajuns</a:t>
            </a:r>
            <a:r>
              <a:rPr lang="en-GB" sz="2400" dirty="0"/>
              <a:t> la un</a:t>
            </a:r>
            <a:r>
              <a:rPr lang="ro-RO" sz="2400" dirty="0"/>
              <a:t> </a:t>
            </a:r>
            <a:r>
              <a:rPr lang="en-GB" sz="2400" dirty="0"/>
              <a:t>set de date cu 363 de </a:t>
            </a:r>
            <a:r>
              <a:rPr lang="en-GB" sz="2400" dirty="0" err="1"/>
              <a:t>pacienți</a:t>
            </a:r>
            <a:r>
              <a:rPr lang="en-GB" sz="2400" dirty="0"/>
              <a:t> cu 389 de </a:t>
            </a:r>
            <a:r>
              <a:rPr lang="en-GB" sz="2400" dirty="0" err="1"/>
              <a:t>parametri</a:t>
            </a:r>
            <a:r>
              <a:rPr lang="en-GB" sz="2400" dirty="0"/>
              <a:t>. </a:t>
            </a:r>
          </a:p>
          <a:p>
            <a:pPr algn="just"/>
            <a:r>
              <a:rPr lang="en-GB" sz="2400" dirty="0"/>
              <a:t> </a:t>
            </a:r>
            <a:r>
              <a:rPr lang="en-GB" sz="2400" dirty="0" err="1"/>
              <a:t>Această</a:t>
            </a:r>
            <a:r>
              <a:rPr lang="en-GB" sz="2400" dirty="0"/>
              <a:t> </a:t>
            </a:r>
            <a:r>
              <a:rPr lang="en-GB" sz="2400" dirty="0" err="1"/>
              <a:t>abordare</a:t>
            </a:r>
            <a:r>
              <a:rPr lang="en-GB" sz="2400" dirty="0"/>
              <a:t> ne </a:t>
            </a:r>
            <a:r>
              <a:rPr lang="en-GB" sz="2400" dirty="0" err="1"/>
              <a:t>permite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ignorăm</a:t>
            </a:r>
            <a:r>
              <a:rPr lang="en-GB" sz="2400" dirty="0"/>
              <a:t> </a:t>
            </a:r>
            <a:r>
              <a:rPr lang="en-GB" sz="2400" dirty="0" err="1"/>
              <a:t>parametrii</a:t>
            </a:r>
            <a:r>
              <a:rPr lang="en-GB" sz="2400" dirty="0"/>
              <a:t> care nu </a:t>
            </a:r>
            <a:r>
              <a:rPr lang="en-GB" sz="2400" dirty="0" err="1"/>
              <a:t>influențează</a:t>
            </a:r>
            <a:r>
              <a:rPr lang="en-GB" sz="2400" dirty="0"/>
              <a:t> </a:t>
            </a:r>
            <a:r>
              <a:rPr lang="en-GB" sz="2400" dirty="0" err="1"/>
              <a:t>rezultatul</a:t>
            </a:r>
            <a:r>
              <a:rPr lang="en-GB" sz="2400" dirty="0"/>
              <a:t> (</a:t>
            </a:r>
            <a:r>
              <a:rPr lang="en-GB" sz="2400" dirty="0" err="1"/>
              <a:t>vaccine_response</a:t>
            </a:r>
            <a:r>
              <a:rPr lang="en-GB" sz="2400" dirty="0"/>
              <a:t>)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folosim</a:t>
            </a:r>
            <a:r>
              <a:rPr lang="en-GB" sz="2400" dirty="0"/>
              <a:t> </a:t>
            </a:r>
            <a:r>
              <a:rPr lang="en-GB" sz="2400" dirty="0" err="1"/>
              <a:t>eficient</a:t>
            </a:r>
            <a:r>
              <a:rPr lang="en-GB" sz="2400" dirty="0"/>
              <a:t> </a:t>
            </a:r>
            <a:r>
              <a:rPr lang="en-GB" sz="2400" dirty="0" err="1"/>
              <a:t>datele</a:t>
            </a:r>
            <a:r>
              <a:rPr lang="en-GB" sz="2400" dirty="0"/>
              <a:t> </a:t>
            </a:r>
            <a:r>
              <a:rPr lang="en-GB" sz="2400" dirty="0" err="1"/>
              <a:t>relevante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a </a:t>
            </a:r>
            <a:r>
              <a:rPr lang="en-GB" sz="2400" dirty="0" err="1"/>
              <a:t>prezice</a:t>
            </a:r>
            <a:r>
              <a:rPr lang="en-GB" sz="2400" dirty="0"/>
              <a:t> un </a:t>
            </a:r>
            <a:r>
              <a:rPr lang="en-GB" sz="2400" dirty="0" err="1"/>
              <a:t>rezultat</a:t>
            </a:r>
            <a:r>
              <a:rPr lang="en-GB" sz="2400" dirty="0"/>
              <a:t> </a:t>
            </a:r>
            <a:r>
              <a:rPr lang="en-GB" sz="2400" dirty="0" err="1"/>
              <a:t>cât</a:t>
            </a:r>
            <a:r>
              <a:rPr lang="en-GB" sz="2400" dirty="0"/>
              <a:t> </a:t>
            </a:r>
            <a:r>
              <a:rPr lang="en-GB" sz="2400" dirty="0" err="1"/>
              <a:t>mai</a:t>
            </a:r>
            <a:r>
              <a:rPr lang="en-GB" sz="2400" dirty="0"/>
              <a:t> precis </a:t>
            </a:r>
            <a:r>
              <a:rPr lang="en-GB" sz="2400" dirty="0" err="1"/>
              <a:t>posibil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493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ADB3-8FAD-294C-805D-CF516C7E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4940FB-58A7-6012-4DE8-9C1FEC481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71D9A-8DBC-6ED7-907E-C4C2BB32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811" y="345793"/>
            <a:ext cx="4092522" cy="775765"/>
          </a:xfrm>
        </p:spPr>
        <p:txBody>
          <a:bodyPr anchor="b">
            <a:normAutofit/>
          </a:bodyPr>
          <a:lstStyle/>
          <a:p>
            <a:r>
              <a:rPr lang="ro-RO" sz="4000" b="1" dirty="0">
                <a:latin typeface="+mj-lt"/>
              </a:rPr>
              <a:t> </a:t>
            </a:r>
            <a:r>
              <a:rPr lang="ro-RO" sz="4000" b="1" dirty="0" err="1">
                <a:latin typeface="+mj-lt"/>
              </a:rPr>
              <a:t>Decision</a:t>
            </a:r>
            <a:r>
              <a:rPr lang="ro-RO" sz="4000" b="1" dirty="0">
                <a:latin typeface="+mj-lt"/>
              </a:rPr>
              <a:t> </a:t>
            </a:r>
            <a:r>
              <a:rPr lang="ro-RO" sz="4000" b="1" dirty="0" err="1">
                <a:latin typeface="+mj-lt"/>
              </a:rPr>
              <a:t>Tree</a:t>
            </a:r>
            <a:endParaRPr lang="en-GB" sz="4000" b="1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BD47-E9B6-0367-99E3-CDC8E298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21558"/>
            <a:ext cx="6278879" cy="5371563"/>
          </a:xfrm>
        </p:spPr>
        <p:txBody>
          <a:bodyPr anchor="t">
            <a:noAutofit/>
          </a:bodyPr>
          <a:lstStyle/>
          <a:p>
            <a:pPr algn="just"/>
            <a:r>
              <a:rPr lang="en-GB" sz="2000" dirty="0" err="1"/>
              <a:t>Dintre</a:t>
            </a:r>
            <a:r>
              <a:rPr lang="en-GB" sz="2000" dirty="0"/>
              <a:t> </a:t>
            </a:r>
            <a:r>
              <a:rPr lang="en-GB" sz="2000" dirty="0" err="1"/>
              <a:t>toate</a:t>
            </a:r>
            <a:r>
              <a:rPr lang="en-GB" sz="2000" dirty="0"/>
              <a:t> </a:t>
            </a:r>
            <a:r>
              <a:rPr lang="en-GB" sz="2000" dirty="0" err="1"/>
              <a:t>modelele</a:t>
            </a:r>
            <a:r>
              <a:rPr lang="en-GB" sz="2000" dirty="0"/>
              <a:t> testate, </a:t>
            </a:r>
            <a:r>
              <a:rPr lang="en-GB" sz="2000" dirty="0" err="1"/>
              <a:t>cea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bună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varianta</a:t>
            </a:r>
            <a:r>
              <a:rPr lang="en-GB" sz="2000" dirty="0"/>
              <a:t> care </a:t>
            </a:r>
            <a:r>
              <a:rPr lang="en-GB" sz="2000" dirty="0" err="1"/>
              <a:t>folosește</a:t>
            </a:r>
            <a:r>
              <a:rPr lang="en-GB" sz="2000" dirty="0"/>
              <a:t> Decision Tree pe un set de date </a:t>
            </a:r>
            <a:r>
              <a:rPr lang="en-GB" sz="2000" dirty="0" err="1"/>
              <a:t>preprocesat</a:t>
            </a:r>
            <a:r>
              <a:rPr lang="en-GB" sz="2000" dirty="0"/>
              <a:t>, cu </a:t>
            </a:r>
            <a:r>
              <a:rPr lang="en-GB" sz="2000" dirty="0" err="1"/>
              <a:t>aceasta</a:t>
            </a:r>
            <a:r>
              <a:rPr lang="en-GB" sz="2000" dirty="0"/>
              <a:t> am </a:t>
            </a:r>
            <a:r>
              <a:rPr lang="en-GB" sz="2000" dirty="0" err="1"/>
              <a:t>obținut</a:t>
            </a:r>
            <a:r>
              <a:rPr lang="en-GB" sz="2000" dirty="0"/>
              <a:t> o </a:t>
            </a:r>
            <a:r>
              <a:rPr lang="en-GB" sz="2000" dirty="0" err="1"/>
              <a:t>acuratețe</a:t>
            </a:r>
            <a:r>
              <a:rPr lang="en-GB" sz="2000" dirty="0"/>
              <a:t> de 75%</a:t>
            </a:r>
            <a:r>
              <a:rPr lang="ro-RO" sz="2000" dirty="0"/>
              <a:t>.</a:t>
            </a:r>
            <a:r>
              <a:rPr lang="en-GB" sz="2000" dirty="0"/>
              <a:t> </a:t>
            </a:r>
            <a:endParaRPr lang="ro-RO" sz="2000" dirty="0"/>
          </a:p>
          <a:p>
            <a:pPr marL="0" indent="0" algn="just">
              <a:buNone/>
            </a:pPr>
            <a:r>
              <a:rPr lang="en-GB" sz="2000" dirty="0"/>
              <a:t>Max depth: 100000000000</a:t>
            </a:r>
          </a:p>
          <a:p>
            <a:pPr marL="0" indent="0" algn="just">
              <a:buNone/>
            </a:pPr>
            <a:r>
              <a:rPr lang="en-GB" sz="2000" dirty="0"/>
              <a:t>Min samples split: </a:t>
            </a:r>
            <a:r>
              <a:rPr lang="ro-RO" sz="2000" dirty="0"/>
              <a:t>35</a:t>
            </a:r>
          </a:p>
          <a:p>
            <a:pPr marL="0" indent="0" algn="just">
              <a:buNone/>
            </a:pPr>
            <a:r>
              <a:rPr lang="en-GB" sz="2000" dirty="0"/>
              <a:t>Min samples leaf: 10</a:t>
            </a:r>
          </a:p>
          <a:p>
            <a:pPr algn="just"/>
            <a:r>
              <a:rPr lang="en-GB" sz="2000" dirty="0" err="1"/>
              <a:t>Raport</a:t>
            </a:r>
            <a:r>
              <a:rPr lang="en-GB" sz="2000" dirty="0"/>
              <a:t> de </a:t>
            </a:r>
            <a:r>
              <a:rPr lang="en-GB" sz="2000" dirty="0" err="1"/>
              <a:t>clasificare</a:t>
            </a:r>
            <a:r>
              <a:rPr lang="en-GB" sz="2000" dirty="0"/>
              <a:t>:</a:t>
            </a:r>
            <a:endParaRPr lang="ro-RO" sz="2000" dirty="0"/>
          </a:p>
          <a:p>
            <a:pPr marL="0" indent="0" algn="just">
              <a:buNone/>
            </a:pPr>
            <a:r>
              <a:rPr lang="ro-RO" sz="2000" dirty="0"/>
              <a:t>                      </a:t>
            </a:r>
            <a:r>
              <a:rPr lang="en-GB" sz="2000" dirty="0"/>
              <a:t>precision  recall  </a:t>
            </a:r>
            <a:r>
              <a:rPr lang="ro-RO" sz="2000" dirty="0"/>
              <a:t> </a:t>
            </a:r>
            <a:r>
              <a:rPr lang="en-GB" sz="2000" dirty="0"/>
              <a:t>f1-score   </a:t>
            </a:r>
            <a:r>
              <a:rPr lang="ro-RO" sz="2000" dirty="0" err="1"/>
              <a:t>support</a:t>
            </a:r>
            <a:endParaRPr lang="ro-RO" sz="2000" dirty="0"/>
          </a:p>
          <a:p>
            <a:pPr marL="0" indent="0" algn="just">
              <a:buNone/>
            </a:pPr>
            <a:r>
              <a:rPr lang="ro-RO" sz="2000" dirty="0"/>
              <a:t>          </a:t>
            </a:r>
            <a:r>
              <a:rPr lang="en-GB" sz="2000" dirty="0"/>
              <a:t>0.0     </a:t>
            </a:r>
            <a:r>
              <a:rPr lang="ro-RO" sz="2000" dirty="0"/>
              <a:t>     </a:t>
            </a:r>
            <a:r>
              <a:rPr lang="en-GB" sz="2000" dirty="0"/>
              <a:t>  </a:t>
            </a:r>
            <a:r>
              <a:rPr lang="ro-RO" sz="2000" dirty="0"/>
              <a:t>  </a:t>
            </a:r>
            <a:r>
              <a:rPr lang="en-GB" sz="2000" dirty="0"/>
              <a:t>0.76      </a:t>
            </a:r>
            <a:r>
              <a:rPr lang="ro-RO" sz="2000" dirty="0"/>
              <a:t> </a:t>
            </a:r>
            <a:r>
              <a:rPr lang="en-GB" sz="2000" dirty="0"/>
              <a:t>0.86      0.81        22</a:t>
            </a:r>
            <a:endParaRPr lang="ro-RO" sz="2000" dirty="0"/>
          </a:p>
          <a:p>
            <a:pPr marL="0" indent="0" algn="just">
              <a:buNone/>
            </a:pPr>
            <a:r>
              <a:rPr lang="ro-RO" sz="2000" dirty="0"/>
              <a:t>          </a:t>
            </a:r>
            <a:r>
              <a:rPr lang="en-GB" sz="2000" dirty="0"/>
              <a:t>1.0      </a:t>
            </a:r>
            <a:r>
              <a:rPr lang="ro-RO" sz="2000" dirty="0"/>
              <a:t>       </a:t>
            </a:r>
            <a:r>
              <a:rPr lang="en-GB" sz="2000" dirty="0"/>
              <a:t> 0.75      </a:t>
            </a:r>
            <a:r>
              <a:rPr lang="ro-RO" sz="2000" dirty="0"/>
              <a:t> </a:t>
            </a:r>
            <a:r>
              <a:rPr lang="en-GB" sz="2000" dirty="0"/>
              <a:t>0.60      0.67        15</a:t>
            </a:r>
          </a:p>
          <a:p>
            <a:pPr marL="0" indent="0" algn="just">
              <a:buNone/>
            </a:pPr>
            <a:r>
              <a:rPr lang="en-GB" sz="2000" dirty="0"/>
              <a:t>accuracy                         </a:t>
            </a:r>
            <a:r>
              <a:rPr lang="ro-RO" sz="2000" dirty="0"/>
              <a:t>  </a:t>
            </a:r>
            <a:r>
              <a:rPr lang="en-GB" sz="2000" dirty="0"/>
              <a:t>0.76        37</a:t>
            </a:r>
          </a:p>
          <a:p>
            <a:pPr marL="0" indent="0" algn="just">
              <a:buNone/>
            </a:pPr>
            <a:r>
              <a:rPr lang="en-GB" sz="2000" dirty="0"/>
              <a:t>macro </a:t>
            </a:r>
            <a:r>
              <a:rPr lang="en-GB" sz="2000" dirty="0" err="1"/>
              <a:t>avg</a:t>
            </a:r>
            <a:r>
              <a:rPr lang="en-GB" sz="2000" dirty="0"/>
              <a:t>       </a:t>
            </a:r>
            <a:r>
              <a:rPr lang="ro-RO" sz="2000" dirty="0"/>
              <a:t>   </a:t>
            </a:r>
            <a:r>
              <a:rPr lang="en-GB" sz="2000" dirty="0"/>
              <a:t>0.76      0.73      0.74        37</a:t>
            </a:r>
            <a:endParaRPr lang="ro-RO" sz="2000" dirty="0"/>
          </a:p>
          <a:p>
            <a:pPr marL="0" indent="0" algn="just">
              <a:buNone/>
            </a:pPr>
            <a:r>
              <a:rPr lang="en-GB" sz="2000" dirty="0"/>
              <a:t>weighted </a:t>
            </a:r>
            <a:r>
              <a:rPr lang="en-GB" sz="2000" dirty="0" err="1"/>
              <a:t>avg</a:t>
            </a:r>
            <a:r>
              <a:rPr lang="en-GB" sz="2000" dirty="0"/>
              <a:t>     0.76     0.76      </a:t>
            </a:r>
            <a:r>
              <a:rPr lang="ro-RO" sz="2000" dirty="0"/>
              <a:t> </a:t>
            </a:r>
            <a:r>
              <a:rPr lang="en-GB" sz="2000" dirty="0"/>
              <a:t>0.75       37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06B19-44BA-3D6E-C3FF-F789CE193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D3920-29DF-B531-DDBC-DD278DC89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61741-BAED-610C-16C1-4D9F80216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443260-1701-E683-47D4-3C4DA636D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43131-F65D-815B-488E-EAF4447E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48" y="1150620"/>
            <a:ext cx="6075679" cy="45567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A28E2B-AC40-D503-6929-2B62D8B42CBA}"/>
              </a:ext>
            </a:extLst>
          </p:cNvPr>
          <p:cNvSpPr txBox="1"/>
          <p:nvPr/>
        </p:nvSpPr>
        <p:spPr>
          <a:xfrm>
            <a:off x="8654060" y="159810"/>
            <a:ext cx="3031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800" dirty="0">
                <a:solidFill>
                  <a:schemeClr val="bg1"/>
                </a:solidFill>
                <a:latin typeface="+mj-lt"/>
              </a:rPr>
              <a:t>Rezultate</a:t>
            </a:r>
          </a:p>
        </p:txBody>
      </p:sp>
    </p:spTree>
    <p:extLst>
      <p:ext uri="{BB962C8B-B14F-4D97-AF65-F5344CB8AC3E}">
        <p14:creationId xmlns:p14="http://schemas.microsoft.com/office/powerpoint/2010/main" val="2397372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3C360-8C36-E2B8-E098-119B9DFD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810" y="364878"/>
            <a:ext cx="5323715" cy="775765"/>
          </a:xfrm>
        </p:spPr>
        <p:txBody>
          <a:bodyPr anchor="b">
            <a:normAutofit/>
          </a:bodyPr>
          <a:lstStyle/>
          <a:p>
            <a:r>
              <a:rPr lang="ro-RO" sz="4000" b="1" dirty="0"/>
              <a:t>Logistic </a:t>
            </a:r>
            <a:r>
              <a:rPr lang="ro-RO" sz="4000" b="1" dirty="0" err="1"/>
              <a:t>Regression</a:t>
            </a:r>
            <a:endParaRPr lang="en-GB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BD6F-B4FE-574F-787B-BD58DCD7A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414926"/>
            <a:ext cx="6278879" cy="5078195"/>
          </a:xfrm>
        </p:spPr>
        <p:txBody>
          <a:bodyPr anchor="t">
            <a:noAutofit/>
          </a:bodyPr>
          <a:lstStyle/>
          <a:p>
            <a:pPr algn="just"/>
            <a:r>
              <a:rPr lang="ro-RO" sz="2400" dirty="0"/>
              <a:t>A</a:t>
            </a:r>
            <a:r>
              <a:rPr lang="en-GB" sz="2400" dirty="0"/>
              <a:t>l </a:t>
            </a:r>
            <a:r>
              <a:rPr lang="en-GB" sz="2400" dirty="0" err="1"/>
              <a:t>doilea</a:t>
            </a:r>
            <a:r>
              <a:rPr lang="en-GB" sz="2400" dirty="0"/>
              <a:t> cel </a:t>
            </a:r>
            <a:r>
              <a:rPr lang="en-GB" sz="2400" dirty="0" err="1"/>
              <a:t>mai</a:t>
            </a:r>
            <a:r>
              <a:rPr lang="en-GB" sz="2400" dirty="0"/>
              <a:t> bun model </a:t>
            </a:r>
            <a:r>
              <a:rPr lang="ro-RO" sz="2400" dirty="0"/>
              <a:t>este</a:t>
            </a:r>
            <a:r>
              <a:rPr lang="en-GB" sz="2400" dirty="0"/>
              <a:t> cel</a:t>
            </a:r>
            <a:r>
              <a:rPr lang="ro-RO" sz="2400" dirty="0"/>
              <a:t> ce </a:t>
            </a:r>
            <a:r>
              <a:rPr lang="ro-RO" sz="2400" dirty="0" err="1"/>
              <a:t>foloseste</a:t>
            </a:r>
            <a:r>
              <a:rPr lang="en-GB" sz="2400" dirty="0"/>
              <a:t> </a:t>
            </a:r>
            <a:r>
              <a:rPr lang="ro-RO" sz="2400" dirty="0"/>
              <a:t>Logistic </a:t>
            </a:r>
            <a:r>
              <a:rPr lang="ro-RO" sz="2400" dirty="0" err="1"/>
              <a:t>Regression</a:t>
            </a:r>
            <a:r>
              <a:rPr lang="ro-RO" sz="2400" dirty="0"/>
              <a:t> </a:t>
            </a:r>
            <a:r>
              <a:rPr lang="en-GB" sz="2400" dirty="0"/>
              <a:t>pe </a:t>
            </a:r>
            <a:r>
              <a:rPr lang="en-GB" sz="2400" dirty="0" err="1"/>
              <a:t>același</a:t>
            </a:r>
            <a:r>
              <a:rPr lang="en-GB" sz="2400" dirty="0"/>
              <a:t> set de date</a:t>
            </a:r>
            <a:r>
              <a:rPr lang="ro-RO" sz="2400" dirty="0"/>
              <a:t> preprocesat</a:t>
            </a:r>
            <a:r>
              <a:rPr lang="en-GB" sz="2400" dirty="0"/>
              <a:t>, </a:t>
            </a:r>
            <a:r>
              <a:rPr lang="ro-RO" sz="2400" dirty="0"/>
              <a:t>acesta are </a:t>
            </a:r>
            <a:r>
              <a:rPr lang="en-GB" sz="2400" dirty="0"/>
              <a:t>o </a:t>
            </a:r>
            <a:r>
              <a:rPr lang="en-GB" sz="2400" dirty="0" err="1"/>
              <a:t>acuratețe</a:t>
            </a:r>
            <a:r>
              <a:rPr lang="en-GB" sz="2400" dirty="0"/>
              <a:t> de 68% .</a:t>
            </a:r>
            <a:endParaRPr lang="ro-RO" sz="2400" dirty="0"/>
          </a:p>
          <a:p>
            <a:pPr algn="just"/>
            <a:r>
              <a:rPr lang="en-GB" sz="2400" dirty="0" err="1"/>
              <a:t>Raport</a:t>
            </a:r>
            <a:r>
              <a:rPr lang="en-GB" sz="2400" dirty="0"/>
              <a:t> de </a:t>
            </a:r>
            <a:r>
              <a:rPr lang="ro-RO" sz="2400" dirty="0"/>
              <a:t>clasificare</a:t>
            </a:r>
            <a:r>
              <a:rPr lang="en-GB" sz="2400" dirty="0"/>
              <a:t>:</a:t>
            </a:r>
          </a:p>
          <a:p>
            <a:pPr marL="0" indent="0" algn="just">
              <a:buNone/>
            </a:pPr>
            <a:r>
              <a:rPr lang="en-GB" sz="2400" dirty="0"/>
              <a:t>            </a:t>
            </a:r>
            <a:r>
              <a:rPr lang="ro-RO" sz="2400" dirty="0"/>
              <a:t>       </a:t>
            </a:r>
            <a:r>
              <a:rPr lang="ro-RO" sz="2400" dirty="0" err="1"/>
              <a:t>precision</a:t>
            </a:r>
            <a:r>
              <a:rPr lang="en-GB" sz="2400" dirty="0"/>
              <a:t>  recall  f1-score  support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r>
              <a:rPr lang="en-GB" sz="2400" dirty="0"/>
              <a:t>0.0       </a:t>
            </a:r>
            <a:r>
              <a:rPr lang="ro-RO" sz="2400" dirty="0"/>
              <a:t>                </a:t>
            </a:r>
            <a:r>
              <a:rPr lang="en-GB" sz="2400" dirty="0"/>
              <a:t>0.76      0.80      0.78      51</a:t>
            </a:r>
          </a:p>
          <a:p>
            <a:pPr marL="0" indent="0" algn="just">
              <a:buNone/>
            </a:pPr>
            <a:r>
              <a:rPr lang="en-GB" sz="2400" dirty="0"/>
              <a:t>1.0       </a:t>
            </a:r>
            <a:r>
              <a:rPr lang="ro-RO" sz="2400" dirty="0"/>
              <a:t>                </a:t>
            </a:r>
            <a:r>
              <a:rPr lang="en-GB" sz="2400" dirty="0"/>
              <a:t>0.47      0.41      0.44      22</a:t>
            </a:r>
          </a:p>
          <a:p>
            <a:pPr marL="0" indent="0" algn="just">
              <a:buNone/>
            </a:pPr>
            <a:r>
              <a:rPr lang="en-GB" sz="2400" dirty="0"/>
              <a:t>accuracy                         </a:t>
            </a:r>
            <a:r>
              <a:rPr lang="ro-RO" sz="2400" dirty="0"/>
              <a:t>                </a:t>
            </a:r>
            <a:r>
              <a:rPr lang="en-GB" sz="2400" dirty="0"/>
              <a:t>0.68      73</a:t>
            </a:r>
          </a:p>
          <a:p>
            <a:pPr marL="0" indent="0" algn="just">
              <a:buNone/>
            </a:pPr>
            <a:r>
              <a:rPr lang="en-GB" sz="2400" dirty="0"/>
              <a:t>macro </a:t>
            </a:r>
            <a:r>
              <a:rPr lang="en-GB" sz="2400" dirty="0" err="1"/>
              <a:t>avg</a:t>
            </a:r>
            <a:r>
              <a:rPr lang="en-GB" sz="2400" dirty="0"/>
              <a:t>       0.62      </a:t>
            </a:r>
            <a:r>
              <a:rPr lang="ro-RO" sz="2400" dirty="0"/>
              <a:t> </a:t>
            </a:r>
            <a:r>
              <a:rPr lang="en-GB" sz="2400" dirty="0"/>
              <a:t>0.61      0.61      73</a:t>
            </a:r>
          </a:p>
          <a:p>
            <a:pPr marL="0" indent="0" algn="just">
              <a:buNone/>
            </a:pPr>
            <a:r>
              <a:rPr lang="en-GB" sz="2400" dirty="0"/>
              <a:t>weighted </a:t>
            </a:r>
            <a:r>
              <a:rPr lang="en-GB" sz="2400" dirty="0" err="1"/>
              <a:t>avg</a:t>
            </a:r>
            <a:r>
              <a:rPr lang="en-GB" sz="2400" dirty="0"/>
              <a:t>  0.67      0.68      0.68      73</a:t>
            </a:r>
          </a:p>
          <a:p>
            <a:pPr marL="0" indent="0" algn="just">
              <a:buNone/>
            </a:pPr>
            <a:endParaRPr lang="en-GB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12F8D-EBCB-2A81-18E2-05BCA61FD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48" y="1150620"/>
            <a:ext cx="6075679" cy="455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530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E15CE-7FF2-D408-70F3-E8B27DF5F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o-RO" sz="4000">
                <a:solidFill>
                  <a:srgbClr val="FFFFFF"/>
                </a:solidFill>
              </a:rPr>
              <a:t>Concluzie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ECC3-9746-1AFD-8FB0-1691F78EF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algn="just"/>
            <a:r>
              <a:rPr lang="ro-RO" sz="2400" dirty="0"/>
              <a:t>În concluzie, algoritmul inteligent dezvoltat este unul de încredere  ce poate fii utilizat în spitale și clinici medicale pentru a oferi în sprijinul personalului medical un instrument de sfătuire în legătură cu gradul de răspundere a pacienților dacă ar alege un vaccin antigripal.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15594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88F6-98B5-668A-AADB-FC646844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ro-RO" sz="4800" dirty="0">
                <a:solidFill>
                  <a:srgbClr val="FFFFFF"/>
                </a:solidFill>
              </a:rPr>
              <a:t>Vă </a:t>
            </a:r>
            <a:r>
              <a:rPr lang="ro-RO" sz="4800" dirty="0" err="1">
                <a:solidFill>
                  <a:srgbClr val="FFFFFF"/>
                </a:solidFill>
              </a:rPr>
              <a:t>multumesc</a:t>
            </a:r>
            <a:r>
              <a:rPr lang="ro-RO" sz="4800" dirty="0">
                <a:solidFill>
                  <a:srgbClr val="FFFFFF"/>
                </a:solidFill>
              </a:rPr>
              <a:t> pentru vizionare!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1278C-6816-FD37-82E3-0A57800E0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235" y="5012551"/>
            <a:ext cx="9078628" cy="1382107"/>
          </a:xfrm>
        </p:spPr>
        <p:txBody>
          <a:bodyPr anchor="ctr">
            <a:norm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Proiect realizat de</a:t>
            </a:r>
            <a:r>
              <a:rPr lang="en-US" dirty="0">
                <a:solidFill>
                  <a:srgbClr val="FFFFFF"/>
                </a:solidFill>
              </a:rPr>
              <a:t>:</a:t>
            </a:r>
            <a:endParaRPr lang="ro-RO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FFFFFF"/>
                </a:solidFill>
              </a:rPr>
              <a:t>Șchiopu Adrian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err="1">
                <a:solidFill>
                  <a:srgbClr val="FFFFFF"/>
                </a:solidFill>
              </a:rPr>
              <a:t>Șerpe</a:t>
            </a:r>
            <a:r>
              <a:rPr lang="ro-RO" dirty="0">
                <a:solidFill>
                  <a:srgbClr val="FFFFFF"/>
                </a:solidFill>
              </a:rPr>
              <a:t> Vlad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618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467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Evoluția Gripei</vt:lpstr>
      <vt:lpstr>Introducere</vt:lpstr>
      <vt:lpstr>Set de date</vt:lpstr>
      <vt:lpstr>Preprocesare</vt:lpstr>
      <vt:lpstr> Decision Tree</vt:lpstr>
      <vt:lpstr>Logistic Regression</vt:lpstr>
      <vt:lpstr>Concluzie</vt:lpstr>
      <vt:lpstr>Vă multumesc pentru vizionare!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ȘCHIOPU</dc:creator>
  <cp:lastModifiedBy>ADRIAN ȘCHIOPU</cp:lastModifiedBy>
  <cp:revision>13</cp:revision>
  <dcterms:created xsi:type="dcterms:W3CDTF">2025-01-16T14:24:07Z</dcterms:created>
  <dcterms:modified xsi:type="dcterms:W3CDTF">2025-01-16T15:59:53Z</dcterms:modified>
</cp:coreProperties>
</file>